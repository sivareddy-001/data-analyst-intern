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41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5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9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6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5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20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3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3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3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7030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36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65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28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02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9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21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184" y="1658312"/>
            <a:ext cx="8063917" cy="1761920"/>
          </a:xfrm>
        </p:spPr>
        <p:txBody>
          <a:bodyPr>
            <a:noAutofit/>
          </a:bodyPr>
          <a:lstStyle/>
          <a:p>
            <a:r>
              <a:rPr lang="en-IN" sz="4000" b="1" dirty="0"/>
              <a:t>GOOGLE TREND ANALYSIS ON </a:t>
            </a:r>
            <a:r>
              <a:rPr sz="4000" b="1" dirty="0"/>
              <a:t>iPhone 17 &amp; 17 Pro Sales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3494" y="3883871"/>
            <a:ext cx="7315200" cy="1761920"/>
          </a:xfrm>
        </p:spPr>
        <p:txBody>
          <a:bodyPr>
            <a:normAutofit/>
          </a:bodyPr>
          <a:lstStyle/>
          <a:p>
            <a:r>
              <a:rPr sz="1400" b="1" dirty="0"/>
              <a:t>Project Presentation</a:t>
            </a:r>
          </a:p>
          <a:p>
            <a:r>
              <a:rPr sz="1400" b="1" dirty="0"/>
              <a:t>Prepared by: </a:t>
            </a:r>
            <a:r>
              <a:rPr lang="en-IN" sz="1400" b="1" dirty="0"/>
              <a:t>Venkata </a:t>
            </a:r>
            <a:r>
              <a:rPr sz="1400" b="1" dirty="0"/>
              <a:t>Siva Reddy</a:t>
            </a:r>
          </a:p>
          <a:p>
            <a:r>
              <a:rPr sz="1400" b="1" dirty="0"/>
              <a:t>Tools: Power BI | DAX | Data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96667" y="594360"/>
            <a:ext cx="6377940" cy="1293028"/>
          </a:xfrm>
        </p:spPr>
        <p:txBody>
          <a:bodyPr>
            <a:normAutofit/>
          </a:bodyPr>
          <a:lstStyle/>
          <a:p>
            <a:r>
              <a:rPr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Analyze sales performance of iPhone 17 &amp; 17 Pro</a:t>
            </a:r>
            <a:endParaRPr lang="en-IN" sz="2800" dirty="0"/>
          </a:p>
          <a:p>
            <a:r>
              <a:rPr sz="2800" dirty="0"/>
              <a:t>Compare revenue, units sold and market share</a:t>
            </a:r>
            <a:endParaRPr lang="en-IN" sz="2800" dirty="0"/>
          </a:p>
          <a:p>
            <a:r>
              <a:rPr sz="2800" dirty="0"/>
              <a:t>Evaluate marketing efficiency (ROAS)</a:t>
            </a:r>
            <a:endParaRPr lang="en-IN" sz="2800" dirty="0"/>
          </a:p>
          <a:p>
            <a:r>
              <a:rPr sz="2800" dirty="0"/>
              <a:t>Identify regional and storage-based performance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6F78-5DB3-944C-CDFD-F0EFA3AB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060" y="63173"/>
            <a:ext cx="6377940" cy="1293028"/>
          </a:xfrm>
        </p:spPr>
        <p:txBody>
          <a:bodyPr/>
          <a:lstStyle/>
          <a:p>
            <a:r>
              <a:rPr lang="en-IN" b="1" dirty="0"/>
              <a:t>DASHBOARD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41AA9-2794-338E-6BD1-A3C72B69B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240"/>
            <a:ext cx="9144000" cy="53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1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0223" y="748570"/>
            <a:ext cx="6377940" cy="1293028"/>
          </a:xfrm>
        </p:spPr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Time Period Covered: 2025–2026</a:t>
            </a:r>
            <a:endParaRPr lang="en-IN" sz="2800" dirty="0"/>
          </a:p>
          <a:p>
            <a:r>
              <a:rPr sz="2800" dirty="0"/>
              <a:t>Key Columns Used:</a:t>
            </a:r>
            <a:endParaRPr lang="en-IN" sz="2800" dirty="0"/>
          </a:p>
          <a:p>
            <a:r>
              <a:rPr sz="2800" dirty="0"/>
              <a:t>Model Name</a:t>
            </a:r>
            <a:endParaRPr lang="en-IN" sz="2800" dirty="0"/>
          </a:p>
          <a:p>
            <a:r>
              <a:rPr sz="2800" dirty="0"/>
              <a:t>Revenue &amp; Units Sold</a:t>
            </a:r>
            <a:endParaRPr lang="en-IN" sz="2800" dirty="0"/>
          </a:p>
          <a:p>
            <a:r>
              <a:rPr sz="2800" dirty="0"/>
              <a:t>Region &amp; Storage Variant</a:t>
            </a:r>
            <a:endParaRPr lang="en-IN" sz="2800" dirty="0"/>
          </a:p>
          <a:p>
            <a:r>
              <a:rPr sz="2800" dirty="0"/>
              <a:t>Marketing Spend &amp;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532" y="901532"/>
            <a:ext cx="8430936" cy="1293028"/>
          </a:xfrm>
        </p:spPr>
        <p:txBody>
          <a:bodyPr/>
          <a:lstStyle/>
          <a:p>
            <a:r>
              <a:rPr b="1" dirty="0"/>
              <a:t>Data Preparation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Cleaned and structured raw data</a:t>
            </a:r>
            <a:endParaRPr lang="en-IN" sz="2800" dirty="0"/>
          </a:p>
          <a:p>
            <a:r>
              <a:rPr sz="2800" dirty="0"/>
              <a:t>Created calculated measures using DAX:</a:t>
            </a:r>
            <a:endParaRPr lang="en-IN" sz="2800" dirty="0"/>
          </a:p>
          <a:p>
            <a:r>
              <a:rPr sz="2800" dirty="0"/>
              <a:t>Total Revenue</a:t>
            </a:r>
            <a:endParaRPr lang="en-IN" sz="2800" dirty="0"/>
          </a:p>
          <a:p>
            <a:r>
              <a:rPr sz="2800" dirty="0"/>
              <a:t>Revenue per Unit</a:t>
            </a:r>
            <a:endParaRPr lang="en-IN" sz="2800" dirty="0"/>
          </a:p>
          <a:p>
            <a:r>
              <a:rPr sz="2800" dirty="0"/>
              <a:t>Return on Ad Spend (ROAS)</a:t>
            </a:r>
            <a:endParaRPr lang="en-IN" sz="2800" dirty="0"/>
          </a:p>
          <a:p>
            <a:r>
              <a:rPr sz="2800" dirty="0"/>
              <a:t>Built relationships between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0850" y="798904"/>
            <a:ext cx="6377940" cy="1293028"/>
          </a:xfrm>
        </p:spPr>
        <p:txBody>
          <a:bodyPr/>
          <a:lstStyle/>
          <a:p>
            <a:r>
              <a:rPr b="1" dirty="0"/>
              <a:t>KPI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Total Revenue – Overall financial performance</a:t>
            </a:r>
            <a:endParaRPr lang="en-IN" sz="2800" dirty="0"/>
          </a:p>
          <a:p>
            <a:r>
              <a:rPr sz="2800" dirty="0"/>
              <a:t>Units Sold – Sales volume measurement</a:t>
            </a:r>
            <a:endParaRPr lang="en-IN" sz="2800" dirty="0"/>
          </a:p>
          <a:p>
            <a:r>
              <a:rPr sz="2800" dirty="0"/>
              <a:t>Revenue per Unit – Pricing efficiency</a:t>
            </a:r>
            <a:endParaRPr lang="en-IN" sz="2800" dirty="0"/>
          </a:p>
          <a:p>
            <a:r>
              <a:rPr sz="2800" dirty="0"/>
              <a:t>ROAS – Marketing effectiveness indicator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D4892-ACEF-3DDA-9674-0460D8F3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882296"/>
            <a:ext cx="7955280" cy="99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0105" y="764373"/>
            <a:ext cx="8364872" cy="1293028"/>
          </a:xfrm>
        </p:spPr>
        <p:txBody>
          <a:bodyPr/>
          <a:lstStyle/>
          <a:p>
            <a:r>
              <a:rPr b="1" dirty="0"/>
              <a:t>Sales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8037912" cy="4069080"/>
          </a:xfrm>
        </p:spPr>
        <p:txBody>
          <a:bodyPr>
            <a:normAutofit/>
          </a:bodyPr>
          <a:lstStyle/>
          <a:p>
            <a:r>
              <a:rPr sz="2800" dirty="0"/>
              <a:t>Compared iPhone 17 vs iPhone 17 Pro performance</a:t>
            </a:r>
            <a:endParaRPr lang="en-IN" sz="2800" dirty="0"/>
          </a:p>
          <a:p>
            <a:r>
              <a:rPr sz="2800" dirty="0"/>
              <a:t>Analyzed revenue contribution by each model</a:t>
            </a:r>
            <a:endParaRPr lang="en-IN" sz="2800" dirty="0"/>
          </a:p>
          <a:p>
            <a:r>
              <a:rPr sz="2800" dirty="0"/>
              <a:t>Identified market share distribution</a:t>
            </a:r>
            <a:endParaRPr lang="en-IN" sz="2800" dirty="0"/>
          </a:p>
          <a:p>
            <a:r>
              <a:rPr sz="2800" dirty="0"/>
              <a:t>Observed performance differences between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72836" y="839874"/>
            <a:ext cx="9916836" cy="1293028"/>
          </a:xfrm>
        </p:spPr>
        <p:txBody>
          <a:bodyPr>
            <a:normAutofit/>
          </a:bodyPr>
          <a:lstStyle/>
          <a:p>
            <a:r>
              <a:rPr b="1" dirty="0"/>
              <a:t>Regional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504952"/>
            <a:ext cx="5537992" cy="4069080"/>
          </a:xfrm>
        </p:spPr>
        <p:txBody>
          <a:bodyPr>
            <a:normAutofit/>
          </a:bodyPr>
          <a:lstStyle/>
          <a:p>
            <a:r>
              <a:rPr sz="2800" dirty="0"/>
              <a:t>Identified top-performing regions</a:t>
            </a:r>
            <a:endParaRPr lang="en-IN" sz="2800" dirty="0"/>
          </a:p>
          <a:p>
            <a:r>
              <a:rPr sz="2800" dirty="0"/>
              <a:t>Compared sales distribution across geographies</a:t>
            </a:r>
            <a:endParaRPr lang="en-IN" sz="2800" dirty="0"/>
          </a:p>
          <a:p>
            <a:r>
              <a:rPr sz="2800" dirty="0"/>
              <a:t>Analyzed regional contribution to total revenue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314FD-9E01-B10C-AF60-F9EC53AA5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352" y="2256766"/>
            <a:ext cx="2591162" cy="3506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13064" y="764373"/>
            <a:ext cx="8264414" cy="1293028"/>
          </a:xfrm>
        </p:spPr>
        <p:txBody>
          <a:bodyPr/>
          <a:lstStyle/>
          <a:p>
            <a:r>
              <a:rPr b="1" dirty="0"/>
              <a:t>Storage Variant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101" y="2024547"/>
            <a:ext cx="4992708" cy="4069080"/>
          </a:xfrm>
        </p:spPr>
        <p:txBody>
          <a:bodyPr>
            <a:normAutofit/>
          </a:bodyPr>
          <a:lstStyle/>
          <a:p>
            <a:r>
              <a:rPr sz="2800" dirty="0"/>
              <a:t>Evaluated demand by storage options (128GB, 256GB, 512GB, 1TB)</a:t>
            </a:r>
            <a:endParaRPr lang="en-IN" sz="2800" dirty="0"/>
          </a:p>
          <a:p>
            <a:r>
              <a:rPr sz="2800" dirty="0"/>
              <a:t>Identified most popular configuration</a:t>
            </a:r>
            <a:endParaRPr lang="en-IN" sz="2800" dirty="0"/>
          </a:p>
          <a:p>
            <a:r>
              <a:rPr sz="2800" dirty="0"/>
              <a:t>Compared storage preference by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A1EF6-B259-8544-856D-7BA51DBF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1" y="2057401"/>
            <a:ext cx="2457793" cy="3336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17739" y="982487"/>
            <a:ext cx="8356693" cy="1293028"/>
          </a:xfrm>
        </p:spPr>
        <p:txBody>
          <a:bodyPr/>
          <a:lstStyle/>
          <a:p>
            <a:r>
              <a:rPr b="1" dirty="0"/>
              <a:t>Revenue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90" y="2547946"/>
            <a:ext cx="7955280" cy="4069080"/>
          </a:xfrm>
        </p:spPr>
        <p:txBody>
          <a:bodyPr>
            <a:normAutofit/>
          </a:bodyPr>
          <a:lstStyle/>
          <a:p>
            <a:r>
              <a:rPr sz="2800" dirty="0"/>
              <a:t>Analyzed monthly revenue fluctuations</a:t>
            </a:r>
            <a:endParaRPr lang="en-IN" sz="2800" dirty="0"/>
          </a:p>
          <a:p>
            <a:r>
              <a:rPr sz="2800" dirty="0"/>
              <a:t>Identified peak sales periods</a:t>
            </a:r>
            <a:endParaRPr lang="en-IN" sz="2800" dirty="0"/>
          </a:p>
          <a:p>
            <a:r>
              <a:rPr sz="2800" dirty="0"/>
              <a:t>Observed overall growth patterns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50552-B155-104A-A824-AF3A77D32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0"/>
          <a:stretch>
            <a:fillRect/>
          </a:stretch>
        </p:blipFill>
        <p:spPr>
          <a:xfrm>
            <a:off x="703870" y="4240845"/>
            <a:ext cx="7750519" cy="23761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950" y="764373"/>
            <a:ext cx="8054690" cy="1293028"/>
          </a:xfrm>
        </p:spPr>
        <p:txBody>
          <a:bodyPr/>
          <a:lstStyle/>
          <a:p>
            <a:r>
              <a:rPr b="1" dirty="0"/>
              <a:t>Conclusion &amp;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Dashboard provides clear executive-level overview</a:t>
            </a:r>
            <a:endParaRPr lang="en-IN" sz="2800" dirty="0"/>
          </a:p>
          <a:p>
            <a:r>
              <a:rPr sz="2800" dirty="0"/>
              <a:t>Identified key drivers of revenue and sales growth</a:t>
            </a:r>
            <a:endParaRPr lang="en-IN" sz="2800" dirty="0"/>
          </a:p>
          <a:p>
            <a:r>
              <a:rPr sz="2800" dirty="0"/>
              <a:t>Strengthened DAX and data modeling skills</a:t>
            </a:r>
            <a:endParaRPr lang="en-IN" sz="2800" dirty="0"/>
          </a:p>
          <a:p>
            <a:r>
              <a:rPr sz="2800" dirty="0"/>
              <a:t>Demonstrated ability to convert raw data into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58</TotalTime>
  <Words>258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GOOGLE TREND ANALYSIS ON iPhone 17 &amp; 17 Pro Sales</vt:lpstr>
      <vt:lpstr>Project Objective</vt:lpstr>
      <vt:lpstr>DASHBOARD INTERFACE</vt:lpstr>
      <vt:lpstr>Dataset Overview</vt:lpstr>
      <vt:lpstr>Data Preparation &amp; Modeling</vt:lpstr>
      <vt:lpstr>KPI Overview</vt:lpstr>
      <vt:lpstr>Sales Performance Insights</vt:lpstr>
      <vt:lpstr>Regional Performance Analysis</vt:lpstr>
      <vt:lpstr>Storage Variant Insights</vt:lpstr>
      <vt:lpstr>Revenue Trend Analysis</vt:lpstr>
      <vt:lpstr>Conclusion &amp; Key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Siva Reddy</dc:creator>
  <cp:keywords/>
  <dc:description>generated using python-pptx</dc:description>
  <cp:lastModifiedBy>Siva Reddy</cp:lastModifiedBy>
  <cp:revision>13</cp:revision>
  <dcterms:created xsi:type="dcterms:W3CDTF">2013-01-27T09:14:16Z</dcterms:created>
  <dcterms:modified xsi:type="dcterms:W3CDTF">2026-03-02T06:41:05Z</dcterms:modified>
  <cp:category/>
</cp:coreProperties>
</file>